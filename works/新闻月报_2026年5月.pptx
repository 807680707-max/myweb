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· ISSUE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新闻</a:t>
            </a:r>
            <a:pPr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月报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航天突破 · AI 变局 · 地缘博弈 · 国内大事 · 产业脉动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五页速览五月全球要闻</a:t>
            </a:r>
            <a:endParaRPr lang="en-US" sz="1400" dirty="0"/>
          </a:p>
        </p:txBody>
      </p:sp>
      <p:pic>
        <p:nvPicPr>
          <p:cNvPr id="7" name="Image 0" descr="C:\Users\ME\Desktop\myweb\imgs\race_track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5303520" y="274320"/>
            <a:ext cx="38404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097280"/>
            <a:ext cx="2926080" cy="749808"/>
          </a:xfrm>
          <a:prstGeom prst="rect">
            <a:avLst>
              <a:gd name="adj" fmla="val 9756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225296"/>
            <a:ext cx="475488" cy="475488"/>
          </a:xfrm>
          <a:prstGeom prst="ellipse">
            <a:avLst/>
          </a:prstGeom>
          <a:solidFill>
            <a:srgbClr val="E63946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225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46520" y="1225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神舟二十三号发射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4996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首次香港航天员进入太空 · 5月24日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0" y="2011680"/>
            <a:ext cx="2926080" cy="749808"/>
          </a:xfrm>
          <a:prstGeom prst="rect">
            <a:avLst>
              <a:gd name="adj" fmla="val 9756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2139696"/>
            <a:ext cx="475488" cy="475488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139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46520" y="2139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I/O 2026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24140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Omni 世界模型发布 · 全模态时代开启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69280" y="2926080"/>
            <a:ext cx="2926080" cy="749808"/>
          </a:xfrm>
          <a:prstGeom prst="rect">
            <a:avLst>
              <a:gd name="adj" fmla="val 9756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3054096"/>
            <a:ext cx="475488" cy="475488"/>
          </a:xfrm>
          <a:prstGeom prst="ellipse">
            <a:avLst/>
          </a:prstGeom>
          <a:solidFill>
            <a:srgbClr val="7C4DFF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3054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🌏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46520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国际局势动荡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33284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美伊接近停火 · 美军中导拟常驻日本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8640" y="4160520"/>
            <a:ext cx="1152144" cy="292608"/>
          </a:xfrm>
          <a:prstGeom prst="rect">
            <a:avLst>
              <a:gd name="adj" fmla="val 50000"/>
            </a:avLst>
          </a:prstGeom>
          <a:solidFill>
            <a:srgbClr val="111318"/>
          </a:solidFill>
          <a:ln w="635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160520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神舟二十三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792224" y="4160520"/>
            <a:ext cx="1700784" cy="292608"/>
          </a:xfrm>
          <a:prstGeom prst="rect">
            <a:avLst>
              <a:gd name="adj" fmla="val 50000"/>
            </a:avLst>
          </a:prstGeom>
          <a:solidFill>
            <a:srgbClr val="111318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92224" y="4160520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Google I/O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584448" y="4160520"/>
            <a:ext cx="1042416" cy="292608"/>
          </a:xfrm>
          <a:prstGeom prst="rect">
            <a:avLst>
              <a:gd name="adj" fmla="val 50000"/>
            </a:avLst>
          </a:prstGeom>
          <a:solidFill>
            <a:srgbClr val="111318"/>
          </a:solidFill>
          <a:ln w="635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84448" y="4160520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美伊博弈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18304" y="4160520"/>
            <a:ext cx="932688" cy="292608"/>
          </a:xfrm>
          <a:prstGeom prst="rect">
            <a:avLst>
              <a:gd name="adj" fmla="val 50000"/>
            </a:avLst>
          </a:prstGeom>
          <a:solidFill>
            <a:srgbClr val="111318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18304" y="4160520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⛏ 安全警示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42432" y="4160520"/>
            <a:ext cx="1042416" cy="292608"/>
          </a:xfrm>
          <a:prstGeom prst="rect">
            <a:avLst>
              <a:gd name="adj" fmla="val 500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42432" y="4160520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B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经济动态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航天</a:t>
            </a:r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星辰大海新篇章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3108960"/>
          </a:xfrm>
          <a:prstGeom prst="rect">
            <a:avLst>
              <a:gd name="adj" fmla="val 3571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pic>
        <p:nvPicPr>
          <p:cNvPr id="6" name="Image 0" descr="C:\Users\ME\Desktop\myweb\imgs\rocke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2560320" cy="13679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2858414"/>
            <a:ext cx="457200" cy="228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293156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载人航天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58368" y="309615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神舟二十三号成功发射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370478"/>
            <a:ext cx="2340864" cy="108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5月24日23时08分发射升空，乘组由朱杨柱（指令长）、张志远、首位香港航天员黎家盈组成，标志着中国空间站进入国际合作新阶段。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10128" y="1417320"/>
            <a:ext cx="2560320" cy="3108960"/>
          </a:xfrm>
          <a:prstGeom prst="rect">
            <a:avLst>
              <a:gd name="adj" fmla="val 3571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pic>
        <p:nvPicPr>
          <p:cNvPr id="12" name="Image 1" descr="C:\Users\ME\Desktop\myweb\imgs\satelli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0128" y="1417320"/>
            <a:ext cx="2560320" cy="136794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19856" y="2858414"/>
            <a:ext cx="45720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0"/>
          <p:cNvSpPr/>
          <p:nvPr/>
        </p:nvSpPr>
        <p:spPr>
          <a:xfrm>
            <a:off x="3419856" y="293156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空间科学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419856" y="309615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"微笑"卫星实现人类首次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19856" y="3370478"/>
            <a:ext cx="2340864" cy="108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中欧联合研制的SMILE卫星5月19日升空，将首次对地球磁层进行软X射线整体成像，为空间天气预报提供革命性数据支撑。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071616" y="1417320"/>
            <a:ext cx="2560320" cy="3108960"/>
          </a:xfrm>
          <a:prstGeom prst="rect">
            <a:avLst>
              <a:gd name="adj" fmla="val 3571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pic>
        <p:nvPicPr>
          <p:cNvPr id="18" name="Image 2" descr="C:\Users\ME\Desktop\myweb\imgs\navigat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71616" y="1417320"/>
            <a:ext cx="2560320" cy="136794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81344" y="2858414"/>
            <a:ext cx="457200" cy="228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0" name="Text 15"/>
          <p:cNvSpPr/>
          <p:nvPr/>
        </p:nvSpPr>
        <p:spPr>
          <a:xfrm>
            <a:off x="6181344" y="293156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导航产业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181344" y="309615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北斗产值突破1.33万亿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81344" y="3370478"/>
            <a:ext cx="2340864" cy="108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2025年北斗时空产业总产值达13,323亿元，14亿部智能手机支持北斗定位。逐日工程突破空间太阳能与微波传能核心技术。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48640" y="4617720"/>
            <a:ext cx="1920240" cy="475488"/>
          </a:xfrm>
          <a:prstGeom prst="rect">
            <a:avLst>
              <a:gd name="adj" fmla="val 11538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654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23时08分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48640" y="48920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神舟二十三发射时刻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2633472" y="4617720"/>
            <a:ext cx="1920240" cy="475488"/>
          </a:xfrm>
          <a:prstGeom prst="rect">
            <a:avLst>
              <a:gd name="adj" fmla="val 11538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633472" y="4654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633472" y="48920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香港航天员飞天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4718304" y="4617720"/>
            <a:ext cx="1920240" cy="475488"/>
          </a:xfrm>
          <a:prstGeom prst="rect">
            <a:avLst>
              <a:gd name="adj" fmla="val 11538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18304" y="4654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13,323亿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4718304" y="48920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北斗产业年度总产值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6803136" y="4617720"/>
            <a:ext cx="1920240" cy="475488"/>
          </a:xfrm>
          <a:prstGeom prst="rect">
            <a:avLst>
              <a:gd name="adj" fmla="val 11538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03136" y="4654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14亿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6803136" y="48920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智能手机支持北斗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indent="0" marL="0">
              <a:buNone/>
            </a:pPr>
            <a:r>
              <a:rPr lang="en-US" sz="30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变局</a:t>
            </a:r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全模态时代来临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691640"/>
          </a:xfrm>
          <a:prstGeom prst="rect">
            <a:avLst>
              <a:gd name="adj" fmla="val 5405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pic>
        <p:nvPicPr>
          <p:cNvPr id="6" name="Image 0" descr="C:\Users\ME\Desktop\myweb\imgs\a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20040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15819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I/O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931920" y="18013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Omni：世界模型定义新范式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31920" y="216712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发布全模态基座模型，支持文本/图像/音频/视频的全模态输入与输出，具备物理世界理解能力。Gemini 3.5 Flash 推理速度达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 tokens/s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，月活用户突破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亿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。搜索业务迎来25年来最大改版，从关键词匹配转向AI智能体范式。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310128"/>
            <a:ext cx="2560320" cy="1719072"/>
          </a:xfrm>
          <a:prstGeom prst="rect">
            <a:avLst>
              <a:gd name="adj" fmla="val 4255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310128"/>
            <a:ext cx="25603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" y="3438144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行业变局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6656" y="365760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超越 OpenAI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6656" y="3968496"/>
            <a:ext cx="2304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估值达9000亿美元，企业市场份额34.4%首超OpenAI。Karpathy加入预训练团队。OpenAI在新加坡设立海外首个AI实验室。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91840" y="3310128"/>
            <a:ext cx="2560320" cy="1719072"/>
          </a:xfrm>
          <a:prstGeom prst="rect">
            <a:avLst>
              <a:gd name="adj" fmla="val 4255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3310128"/>
            <a:ext cx="2560320" cy="274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4"/>
          <p:cNvSpPr/>
          <p:nvPr/>
        </p:nvSpPr>
        <p:spPr>
          <a:xfrm>
            <a:off x="3419856" y="3438144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具身智能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19856" y="365760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家庭机器人时代开启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419856" y="3968496"/>
            <a:ext cx="2304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首款通用家庭机器人「拾光S1」在武汉发布，可做饭叠衣陪护。2026被业界称为具身智能规模化应用元年。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35040" y="3310128"/>
            <a:ext cx="2560320" cy="1719072"/>
          </a:xfrm>
          <a:prstGeom prst="rect">
            <a:avLst>
              <a:gd name="adj" fmla="val 4255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3310128"/>
            <a:ext cx="25603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/>
          <p:nvPr/>
        </p:nvSpPr>
        <p:spPr>
          <a:xfrm>
            <a:off x="6163056" y="3438144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国产力量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163056" y="365760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国内AI多点开花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63056" y="3968496"/>
            <a:ext cx="2304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智谱GLM-5.1高速版400tokens/s；腾讯马维斯AI全平台上线；字节火山剧创1.0缩短制作周期80%。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GEOPOLITICS &amp; DOMESTIC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国际局势 </a:t>
            </a:r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国内安全警示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国际地缘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4572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国内重大事件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499616"/>
            <a:ext cx="4572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28800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3200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9019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19019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美伊接近达成初步停火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2148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巴基斯坦或将宣布谅解备忘录，特朗普称双方"基本谈成"。以色列被排除谈判外引发不安。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88336"/>
            <a:ext cx="3200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7614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27614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美军中导系统拟常驻日本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008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计划在鹿儿岛部署"堤丰"系统，中方坚决反对。日本拟向菲律宾出口88式反舰导弹。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47872"/>
            <a:ext cx="32004" cy="731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6210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36210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普京访华 · 中俄深化合作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8679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普京对中国进行国事访问，纪念中俄战略伙伴关系30周年，双方同意进一步延长双边条约。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32004" cy="731520"/>
          </a:xfrm>
          <a:prstGeom prst="rect">
            <a:avLst/>
          </a:prstGeom>
          <a:solidFill>
            <a:srgbClr val="5D6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44805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44805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沙特赤字扩大至335亿美元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727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受伊朗战争冲击，国防开支增长26%，被迫削减"2030年愿景"项目。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1828800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828800"/>
            <a:ext cx="3200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4946904" y="19019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19019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山西煤矿爆炸 · 82人遇难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148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沁源县刘神峪煤矿瓦斯爆炸，247人当班，82死128伤9失踪。涉事高管被刑拘，为十年来最严重矿难。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688336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688336"/>
            <a:ext cx="3200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4946904" y="27614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27614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广西柳州5.2级双震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008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331年来最强地震，2人死亡，出现岩崩与天坑。应急管理部启动四级应急响应。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3547872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547872"/>
            <a:ext cx="3200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1" name="Text 39"/>
          <p:cNvSpPr/>
          <p:nvPr/>
        </p:nvSpPr>
        <p:spPr>
          <a:xfrm>
            <a:off x="4946904" y="36210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5月初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36210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湖南浏阳烟花厂爆炸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8679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造成重大伤亡，习近平指示全力救援。应急管理部派工作组赴现场处置。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00600" y="4407408"/>
            <a:ext cx="3794760" cy="731520"/>
          </a:xfrm>
          <a:prstGeom prst="rect">
            <a:avLst>
              <a:gd name="adj" fmla="val 7500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4407408"/>
            <a:ext cx="32004" cy="731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6" name="Text 44"/>
          <p:cNvSpPr/>
          <p:nvPr/>
        </p:nvSpPr>
        <p:spPr>
          <a:xfrm>
            <a:off x="4946904" y="44805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44805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台海周边军事动态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4727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台湾防务部门通报16架次军机、8艘军舰在台海活动，13架次越过海峡中线。世卫大会连续10年拒绝涉台提案。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ECONOMY &amp; INDUSTRY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经济产业 </a:t>
            </a:r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indent="0" marL="0">
              <a:buNone/>
            </a:pPr>
            <a:r>
              <a:rPr lang="en-US" sz="30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复苏与创新</a:t>
            </a:r>
            <a:endParaRPr lang="en-US" sz="3000" dirty="0"/>
          </a:p>
        </p:txBody>
      </p:sp>
      <p:pic>
        <p:nvPicPr>
          <p:cNvPr id="5" name="Image 0" descr="C:\Users\ME\Desktop\myweb\imgs\porsche.jp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6858000" y="548640"/>
            <a:ext cx="2286000" cy="1463040"/>
          </a:xfrm>
          <a:prstGeom prst="rect">
            <a:avLst/>
          </a:prstGeom>
        </p:spPr>
      </p:pic>
      <p:pic>
        <p:nvPicPr>
          <p:cNvPr id="6" name="Image 1" descr="C:\Users\ME\Desktop\myweb\imgs\night_race.jp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0" r="0" t="0" b="0"/>
          <a:stretch/>
        </p:blipFill>
        <p:spPr>
          <a:xfrm>
            <a:off x="548640" y="3657600"/>
            <a:ext cx="8046720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08760"/>
            <a:ext cx="3840480" cy="1554480"/>
          </a:xfrm>
          <a:prstGeom prst="rect">
            <a:avLst>
              <a:gd name="adj" fmla="val 5882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001018"/>
          </a:solidFill>
          <a:ln/>
        </p:spPr>
      </p:sp>
      <p:sp>
        <p:nvSpPr>
          <p:cNvPr id="9" name="Text 5"/>
          <p:cNvSpPr/>
          <p:nvPr/>
        </p:nvSpPr>
        <p:spPr>
          <a:xfrm>
            <a:off x="71323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069080" y="1655064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353312" y="16733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央行6000亿MLF操作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53312" y="19110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6,000亿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13232" y="2350008"/>
            <a:ext cx="3511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5月25日，央行开展1年期中期借贷便利操作，保持银行体系流动性充裕，维护市场信心。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54880" y="1508760"/>
            <a:ext cx="3840480" cy="1554480"/>
          </a:xfrm>
          <a:prstGeom prst="rect">
            <a:avLst>
              <a:gd name="adj" fmla="val 5882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9472" y="1691640"/>
            <a:ext cx="502920" cy="502920"/>
          </a:xfrm>
          <a:prstGeom prst="ellipse">
            <a:avLst/>
          </a:prstGeom>
          <a:solidFill>
            <a:srgbClr val="180800"/>
          </a:solidFill>
          <a:ln/>
        </p:spPr>
      </p:sp>
      <p:sp>
        <p:nvSpPr>
          <p:cNvPr id="16" name="Text 12"/>
          <p:cNvSpPr/>
          <p:nvPr/>
        </p:nvSpPr>
        <p:spPr>
          <a:xfrm>
            <a:off x="491947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275320" y="1655064"/>
            <a:ext cx="182880" cy="182880"/>
          </a:xfrm>
          <a:prstGeom prst="ellipse">
            <a:avLst/>
          </a:prstGeom>
          <a:solidFill>
            <a:srgbClr val="F4A261">
              <a:alpha val="4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559552" y="16733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五一消费创纪录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559552" y="19110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15.2亿人次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919472" y="2350008"/>
            <a:ext cx="3511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五一假期跨区域人员流动量同比增3.49%，跨境出行近1130万人次。AI家电销售额同比暴增63%，政府投入625亿超长期国债支持以旧换新。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8640" y="3282696"/>
            <a:ext cx="3840480" cy="1554480"/>
          </a:xfrm>
          <a:prstGeom prst="rect">
            <a:avLst>
              <a:gd name="adj" fmla="val 5882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3232" y="3465576"/>
            <a:ext cx="502920" cy="502920"/>
          </a:xfrm>
          <a:prstGeom prst="ellipse">
            <a:avLst/>
          </a:prstGeom>
          <a:solidFill>
            <a:srgbClr val="080018"/>
          </a:solidFill>
          <a:ln/>
        </p:spPr>
      </p:sp>
      <p:sp>
        <p:nvSpPr>
          <p:cNvPr id="23" name="Text 19"/>
          <p:cNvSpPr/>
          <p:nvPr/>
        </p:nvSpPr>
        <p:spPr>
          <a:xfrm>
            <a:off x="713232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069080" y="3429000"/>
            <a:ext cx="182880" cy="182880"/>
          </a:xfrm>
          <a:prstGeom prst="ellipse">
            <a:avLst/>
          </a:prstGeom>
          <a:solidFill>
            <a:srgbClr val="7C4DFF">
              <a:alpha val="4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353312" y="34472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世界智能产业博览会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353312" y="3685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260+台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713232" y="4123944"/>
            <a:ext cx="3511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5月28-31日天津启幕，紧扣"AI+"主线，打造"海陆空"机器人天团。重庆联合主办，展示新能源汽车与智慧装备。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754880" y="3282696"/>
            <a:ext cx="3840480" cy="1554480"/>
          </a:xfrm>
          <a:prstGeom prst="rect">
            <a:avLst>
              <a:gd name="adj" fmla="val 5882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919472" y="3465576"/>
            <a:ext cx="502920" cy="502920"/>
          </a:xfrm>
          <a:prstGeom prst="ellipse">
            <a:avLst/>
          </a:prstGeom>
          <a:solidFill>
            <a:srgbClr val="081808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8275320" y="3429000"/>
            <a:ext cx="182880" cy="182880"/>
          </a:xfrm>
          <a:prstGeom prst="ellipse">
            <a:avLst/>
          </a:prstGeom>
          <a:solidFill>
            <a:srgbClr val="2ECC71">
              <a:alpha val="40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5559552" y="34472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2026经济目标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559552" y="3685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4.5–5%</a:t>
            </a:r>
            <a:endParaRPr lang="en-US" sz="2600" dirty="0"/>
          </a:p>
        </p:txBody>
      </p:sp>
      <p:sp>
        <p:nvSpPr>
          <p:cNvPr id="34" name="Text 30"/>
          <p:cNvSpPr/>
          <p:nvPr/>
        </p:nvSpPr>
        <p:spPr>
          <a:xfrm>
            <a:off x="4919472" y="4123944"/>
            <a:ext cx="3511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GDP增速目标设定为4.5-5%，国防预算增速放缓至7%。杭州法院首例AI替代员工案判赔26万元，引发劳动法热议。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48640" y="4800600"/>
            <a:ext cx="8046720" cy="274320"/>
          </a:xfrm>
          <a:prstGeom prst="rect">
            <a:avLst>
              <a:gd name="adj" fmla="val 13333"/>
            </a:avLst>
          </a:prstGeom>
          <a:solidFill>
            <a:srgbClr val="111318"/>
          </a:solidFill>
          <a:ln w="6350">
            <a:solidFill>
              <a:srgbClr val="1E202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新闻月报  MAY 2026  |  数据来源：公开新闻报道  ·  仅作信息整理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2026年5月 新闻月报</dc:title>
  <dc:subject>PptxGenJS Presentation</dc:subject>
  <dc:creator>News Report</dc:creator>
  <cp:lastModifiedBy>News Report</cp:lastModifiedBy>
  <cp:revision>1</cp:revision>
  <dcterms:created xsi:type="dcterms:W3CDTF">2026-05-27T04:18:09Z</dcterms:created>
  <dcterms:modified xsi:type="dcterms:W3CDTF">2026-05-27T04:18:09Z</dcterms:modified>
</cp:coreProperties>
</file>